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18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199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393192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3200400" cy="3200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서울시 빅데이터 활용 경진대회  |  분석 부문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9EC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야간 택시 운행 데이터 분석을 통한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확대 구역 및 시간대 도출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731520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9EC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300" dirty="0">
                <a:solidFill>
                  <a:srgbClr val="9EC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9EC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713232"/>
            <a:ext cx="8595360" cy="548640"/>
          </a:xfrm>
          <a:prstGeom prst="rect">
            <a:avLst/>
          </a:prstGeom>
          <a:solidFill>
            <a:srgbClr val="F5F8FF"/>
          </a:solidFill>
          <a:ln w="6350">
            <a:solidFill>
              <a:srgbClr val="D8E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530352" cy="5486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713232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7498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배경 및 목적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014984"/>
            <a:ext cx="6400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택시 위기, 자율주행 현황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06640" y="713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03–05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303020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74320" y="1303020"/>
            <a:ext cx="530352" cy="5486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4320" y="130302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33959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데이터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1604772"/>
            <a:ext cx="6400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데이터셋, 4개 카테고리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06640" y="13030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06–07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892808"/>
            <a:ext cx="8595360" cy="548640"/>
          </a:xfrm>
          <a:prstGeom prst="rect">
            <a:avLst/>
          </a:prstGeom>
          <a:solidFill>
            <a:srgbClr val="F5F8FF"/>
          </a:solidFill>
          <a:ln w="6350">
            <a:solidFill>
              <a:srgbClr val="D8E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74320" y="1892808"/>
            <a:ext cx="530352" cy="5486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74320" y="189280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192938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 (4단계 프레임워크)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2194560"/>
            <a:ext cx="6400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오피스·교통공백·야간수요·우선순위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1892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08–12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48259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74320" y="2482596"/>
            <a:ext cx="530352" cy="5486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74320" y="248259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251917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+ 구역 유형 분리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2784348"/>
            <a:ext cx="6400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10, 오피스/교통공백형, 잠재수요 검증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06640" y="24825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13–16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072384"/>
            <a:ext cx="8595360" cy="548640"/>
          </a:xfrm>
          <a:prstGeom prst="rect">
            <a:avLst/>
          </a:prstGeom>
          <a:solidFill>
            <a:srgbClr val="F5F8FF"/>
          </a:solidFill>
          <a:ln w="6350">
            <a:solidFill>
              <a:srgbClr val="D8E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74320" y="3072384"/>
            <a:ext cx="530352" cy="5486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74320" y="3072384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31089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및 이해관계자 쟁점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" y="3374136"/>
            <a:ext cx="6400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효과, 택시기사 반발 쟁점 검토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06640" y="30723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17–18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66217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74320" y="3662172"/>
            <a:ext cx="530352" cy="5486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3662172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4400" y="36987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개선방안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4400" y="3963924"/>
            <a:ext cx="6400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연도 한계, 향후 발전 방향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06640" y="36621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solidFill>
            <a:srgbClr val="F5F8FF"/>
          </a:solidFill>
          <a:ln w="6350">
            <a:solidFill>
              <a:srgbClr val="D8E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274320" y="4251960"/>
            <a:ext cx="530352" cy="5486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274320" y="425196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14400" y="428853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&amp; 부록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14400" y="4553712"/>
            <a:ext cx="6400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요약, 데이터·도구 목록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20–21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제기: 야간 택시의 두 가지 위기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1. 분석 배경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4069080" cy="3794760"/>
          </a:xfrm>
          <a:prstGeom prst="rect">
            <a:avLst/>
          </a:prstGeom>
          <a:solidFill>
            <a:srgbClr val="FFF5F5"/>
          </a:solidFill>
          <a:ln w="1270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987552"/>
            <a:ext cx="40690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9875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위기  ·  고령 운전자 야간 안전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5087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64.6세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개인택시 기사 평균 연령 (2024)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60세 이상 비율 (개인택시)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63.1세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148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법인택시 기사 평균 연령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251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장시간 운행 → 피로 누적 → 안전 위협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52544" y="2514600"/>
            <a:ext cx="438912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987552"/>
            <a:ext cx="4069080" cy="3794760"/>
          </a:xfrm>
          <a:prstGeom prst="rect">
            <a:avLst/>
          </a:prstGeom>
          <a:solidFill>
            <a:srgbClr val="F5F8FF"/>
          </a:solidFill>
          <a:ln w="12700">
            <a:solidFill>
              <a:srgbClr val="B8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800600" y="987552"/>
            <a:ext cx="4069080" cy="4114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00600" y="9875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위기  ·  심야 대중교통 공백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5087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177개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93776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올빼미버스 미커버 행정동 (426개 중)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4231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18개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93776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올빼미버스 노선 수 (심야 전용)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3375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96.5%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막차 이후 지하철 수요 소멸률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251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막차 이후 택시 의존도 급증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현황: 서울시 자율주행 택시 시범운행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1. 분석 배경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시작된 자율주행 택시, 하지만 갈 길이 멀다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3840480" cy="3337560"/>
          </a:xfrm>
          <a:prstGeom prst="rect">
            <a:avLst/>
          </a:prstGeom>
          <a:solidFill>
            <a:srgbClr val="F5F8FF"/>
          </a:solidFill>
          <a:ln w="190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3840480" cy="38404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 (강남 시범운행)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70078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7대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08483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차량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048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 한정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구역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심야 전용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시간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1304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638건/일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419709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 권역 심야 추정 수요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27432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0" y="1234440"/>
            <a:ext cx="3840480" cy="3337560"/>
          </a:xfrm>
          <a:prstGeom prst="rect">
            <a:avLst/>
          </a:prstGeom>
          <a:solidFill>
            <a:srgbClr val="FFF5F5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Waymo  (미국)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70078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3,000대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66360" y="208483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차량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24048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도시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66360" y="27889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구역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31089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66360" y="3493008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시간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381304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50만 건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166360" y="419709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운행 건수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질문: 강남 다음은 어디인가?  데이터가 답한다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목적 및 범위 정의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1. 분석 배경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8595360" cy="45720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71323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자율주행 택시 확대 시 효과 극대화 구역·시간대 도출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234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'오피스 야근 귀가 수요'에 집중하는가?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3977640" cy="2697480"/>
          </a:xfrm>
          <a:prstGeom prst="rect">
            <a:avLst/>
          </a:prstGeom>
          <a:solidFill>
            <a:srgbClr val="FFF5F5"/>
          </a:solidFill>
          <a:ln w="1270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3977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제외: 음주형 수요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0848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 만취 승객 목적지 입력 불가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1518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 비상 상황 대응 능력 저하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14553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 불규칙·예측 불가 패턴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6758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 자율주행 안전성 저해 요소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51960" y="2834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892040" y="1645920"/>
            <a:ext cx="3977640" cy="2697480"/>
          </a:xfrm>
          <a:prstGeom prst="rect">
            <a:avLst/>
          </a:prstGeom>
          <a:solidFill>
            <a:srgbClr val="F5F8FF"/>
          </a:solidFill>
          <a:ln w="12700">
            <a:solidFill>
              <a:srgbClr val="B8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92040" y="1645920"/>
            <a:ext cx="3977640" cy="38404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16459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선택: 오피스 귀가 수요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0848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목적지 명확 → 완전 자율주행 최적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61518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평일 반복 패턴 → 예측 가능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14553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대중교통 공백 시간대와 일치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6758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수요 집중 + 데이터 검증 가능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453128"/>
            <a:ext cx="8595360" cy="347472"/>
          </a:xfrm>
          <a:prstGeom prst="rect">
            <a:avLst/>
          </a:prstGeom>
          <a:solidFill>
            <a:srgbClr val="EBF2FB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74320" y="44531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범위: 서울시 426개 행정동  ×  22~02시 심야 시간대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데이터 구성 개요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 활용 데이터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데이터셋, 4개 </a:t>
            </a:r>
            <a:r>
              <a:rPr lang="en-US" sz="1400" b="1" dirty="0" err="1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</a:t>
            </a:r>
            <a:r>
              <a:rPr lang="en-US" sz="14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73152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34640" y="1179576"/>
            <a:ext cx="146304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834640" y="1179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빅데이터캠퍼스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1207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  인구 유동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15910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B009 KT 심야 유동인구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20482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(행정동별 심야 유동인구)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115568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09160" y="1115568"/>
            <a:ext cx="73152" cy="1600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269480" y="1179576"/>
            <a:ext cx="1463040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269480" y="1179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열린데이터광장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73752" y="1207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🚌  대중교통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15910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지하철 역별 시간대별 승하차 인원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3752" y="20482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버스 노선정보 + 정류소 위치정보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73152" cy="16002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834640" y="2898648"/>
            <a:ext cx="1463040" cy="23774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834640" y="2898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8912" y="29260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4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 오피스 인프라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" y="3310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2024년 기준 사업체조사 자료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37673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(1,176,066행, 행정동별 업종·종사자)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09160" y="2834640"/>
            <a:ext cx="73152" cy="1600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269480" y="2898648"/>
            <a:ext cx="146304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269480" y="2898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73752" y="29260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  공간 데이터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73752" y="3310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행정구역경계(읍면동) .shp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3752" y="37673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(서울 426개 행정동, EPSG:5179)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 배경 지표 (참고): 운수종사자 연령 현황 (TMACS) / 교통사고 현황 (TAAS)  ─  공공데이터포털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데이터 상세 목록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 활용 데이터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43891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7680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76809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7680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76809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76809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목적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207008"/>
            <a:ext cx="8595360" cy="438912"/>
          </a:xfrm>
          <a:prstGeom prst="rect">
            <a:avLst/>
          </a:prstGeom>
          <a:solidFill>
            <a:srgbClr val="D6E4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0040" y="120700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 유동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25880" y="12070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B009 KT 심야 유동인구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6200" y="120700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47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빅데이터캠퍼스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57800" y="120700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89320" y="120700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행정동별 심야 수요 지수 산출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1645920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0040" y="16459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대중교통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25880" y="1645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역별 시간대별 승하차 인원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86200" y="16459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열린데이터광장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57800" y="164592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89320" y="164592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막차 이후 수요 패턴 분석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084832"/>
            <a:ext cx="8595360" cy="438912"/>
          </a:xfrm>
          <a:prstGeom prst="rect">
            <a:avLst/>
          </a:prstGeom>
          <a:solidFill>
            <a:srgbClr val="D6F5E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20848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대중교통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25880" y="2084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노선정보 + 정류소 위치정보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86200" y="208483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열린데이터광장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57800" y="208483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89320" y="208483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올빼미버스 커버리지 분석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523744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20040" y="252374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인프라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25880" y="252374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사업체조사 (1,176,066행)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86200" y="25237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14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57800" y="252374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252374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밀집도 지수 산출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EDE0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20040" y="296265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325880" y="296265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행정구역경계(읍면동) .shp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86200" y="296265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14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57800" y="296265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전단계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89320" y="296265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공간 분석 기반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3401568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20040" y="340156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지표*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325880" y="34015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운수종사자 연령 현황 (TMACS)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86200" y="340156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57800" y="340156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89320" y="340156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고령화 맥락 근거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320040" y="384048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지표*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325880" y="3840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교통사고 현황 (TAAS)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886200" y="38404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257800" y="38404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989320" y="384048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위험 근거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48640" y="4453128"/>
            <a:ext cx="182880" cy="182880"/>
          </a:xfrm>
          <a:prstGeom prst="rect">
            <a:avLst/>
          </a:prstGeom>
          <a:solidFill>
            <a:srgbClr val="D6E4F7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777240" y="44531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빅데이터캠퍼스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51760" y="4453128"/>
            <a:ext cx="182880" cy="182880"/>
          </a:xfrm>
          <a:prstGeom prst="rect">
            <a:avLst/>
          </a:prstGeom>
          <a:solidFill>
            <a:srgbClr val="D6F5E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2880360" y="44531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열린데이터광장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453128"/>
            <a:ext cx="182880" cy="182880"/>
          </a:xfrm>
          <a:prstGeom prst="rect">
            <a:avLst/>
          </a:prstGeom>
          <a:solidFill>
            <a:srgbClr val="EDE0F5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4983480" y="44531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통계청/SGIS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58000" y="4453128"/>
            <a:ext cx="1828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7086600" y="44531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배경지표(참고)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분석 프레임워크 개요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3. 분석 방법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8595360" cy="219456"/>
          </a:xfrm>
          <a:prstGeom prst="rect">
            <a:avLst/>
          </a:prstGeom>
          <a:solidFill>
            <a:srgbClr val="EBF2FB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71323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지수(오피스 밀집도 · 교통공백 · 야간수요)를 각각 계산한 뒤 가중 합산하여 서울 426개 행정동의 자율주행 </a:t>
            </a:r>
            <a:r>
              <a:rPr lang="en-US" sz="950" dirty="0" err="1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r>
              <a:rPr lang="en-US" sz="950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r>
              <a:rPr lang="en-US" sz="950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987552"/>
            <a:ext cx="1993392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1993392" cy="8046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00584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26187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 분류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" y="18836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4904" y="18836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사업체조사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" y="25694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74904" y="25694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필터 J·K·M·N·L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" y="32552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74904" y="32552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Min-Max 정규화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" y="39410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4904" y="39410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밀집도 지수(0~1)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58568" y="26654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32304" y="987552"/>
            <a:ext cx="1993392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432304" y="987552"/>
            <a:ext cx="199339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432304" y="100584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32304" y="126187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대중교통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분석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1176" y="18836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51176" y="18836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시간대별 승하차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1176" y="25694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551176" y="25694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올빼미버스 500m 버퍼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1176" y="32552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551176" y="32552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계산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1176" y="39410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551176" y="39410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지수(0~1)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34840" y="26654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08576" y="987552"/>
            <a:ext cx="1993392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608576" y="987552"/>
            <a:ext cx="1993392" cy="8046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08576" y="100584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08576" y="126187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심야 수요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27448" y="18836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727448" y="18836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B009 KT 심야유동인구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27448" y="25694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727448" y="25694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(빅데이터캠퍼스)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27448" y="32552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727448" y="32552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행정동별 합산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27448" y="39410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727448" y="39410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야간수요 지수(0~1)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11112" y="26654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784848" y="987552"/>
            <a:ext cx="1993392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784848" y="987552"/>
            <a:ext cx="1993392" cy="80467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784848" y="100584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84848" y="126187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03720" y="18836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903720" y="18836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가중합산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03720" y="25694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6903720" y="25694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35%+35%+30%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03720" y="32552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903720" y="32552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 유형 분류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03720" y="3941064"/>
            <a:ext cx="1755648" cy="59436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6903720" y="394106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랭킹 산출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4754880"/>
            <a:ext cx="8595360" cy="164592"/>
          </a:xfrm>
          <a:prstGeom prst="rect">
            <a:avLst/>
          </a:prstGeom>
          <a:solidFill>
            <a:srgbClr val="EBF2FB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274320" y="47548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복합지수 = 오피스밀집도(35%) + 대중교통공백(35%) + 야간수요(30%)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오피스 구역 분류 (오피스밀집도 지수)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3. 분석 방법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76072"/>
            <a:ext cx="2148840" cy="164592"/>
          </a:xfrm>
          <a:prstGeom prst="rect">
            <a:avLst/>
          </a:prstGeom>
          <a:solidFill>
            <a:srgbClr val="0D2545"/>
          </a:solidFill>
          <a:ln w="63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5760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오피스밀집도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576072"/>
            <a:ext cx="2148840" cy="164592"/>
          </a:xfrm>
          <a:prstGeom prst="rect">
            <a:avLst/>
          </a:prstGeom>
          <a:solidFill>
            <a:srgbClr val="DADAD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2316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1460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교통공백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576072"/>
            <a:ext cx="2148840" cy="164592"/>
          </a:xfrm>
          <a:prstGeom prst="rect">
            <a:avLst/>
          </a:prstGeom>
          <a:solidFill>
            <a:srgbClr val="DADAD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야간수요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20840" y="576072"/>
            <a:ext cx="2148840" cy="164592"/>
          </a:xfrm>
          <a:prstGeom prst="rect">
            <a:avLst/>
          </a:prstGeom>
          <a:solidFill>
            <a:srgbClr val="DADAD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2084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1228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우선순위 도출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786384"/>
            <a:ext cx="3474720" cy="1572768"/>
          </a:xfrm>
          <a:prstGeom prst="rect">
            <a:avLst/>
          </a:prstGeom>
          <a:solidFill>
            <a:srgbClr val="FFF5F5"/>
          </a:solidFill>
          <a:ln w="1270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8321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10698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지수가 높을수록 = 오피스 업종 종사자가 많이 모여 있는 행정동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128930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데이터: 통계청 2024 사업체조사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153619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(1,176,066개 사업체, 426개 행정동)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178308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업종: J·K·M·N·L (5개 업종)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02996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Min-Max 정규화 → 지수(0~1)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2365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오피스 밀집 지역 TOP 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615184"/>
            <a:ext cx="3474720" cy="393192"/>
          </a:xfrm>
          <a:prstGeom prst="rect">
            <a:avLst/>
          </a:prstGeom>
          <a:solidFill>
            <a:srgbClr val="FFE8E8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20040" y="2615184"/>
            <a:ext cx="530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2615184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여의동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2615184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044952"/>
            <a:ext cx="3474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0040" y="3044952"/>
            <a:ext cx="530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3044952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가산동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3044952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0.781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474720"/>
            <a:ext cx="3474720" cy="393192"/>
          </a:xfrm>
          <a:prstGeom prst="rect">
            <a:avLst/>
          </a:prstGeom>
          <a:solidFill>
            <a:srgbClr val="FFF5F5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20040" y="3474720"/>
            <a:ext cx="530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3474720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역삼1동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51760" y="3474720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904488"/>
            <a:ext cx="3474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20040" y="3904488"/>
            <a:ext cx="530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" y="3904488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명동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51760" y="39044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0.530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334256"/>
            <a:ext cx="3474720" cy="393192"/>
          </a:xfrm>
          <a:prstGeom prst="rect">
            <a:avLst/>
          </a:prstGeom>
          <a:solidFill>
            <a:srgbClr val="FFF5F5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20040" y="4334256"/>
            <a:ext cx="530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" y="4334256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을지로동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651760" y="4334256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0.451</a:t>
            </a:r>
            <a:endParaRPr lang="en-US" sz="1100" dirty="0"/>
          </a:p>
        </p:txBody>
      </p:sp>
      <p:pic>
        <p:nvPicPr>
          <p:cNvPr id="47" name="Image 0" descr="/sessions/eager-amazing-thompson/mnt/seoul data/analysis/output/01_offic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86384"/>
            <a:ext cx="498348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대중교통 공백 분석 (교통공백 지수)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3. 분석 방법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76072"/>
            <a:ext cx="2148840" cy="164592"/>
          </a:xfrm>
          <a:prstGeom prst="rect">
            <a:avLst/>
          </a:prstGeom>
          <a:solidFill>
            <a:srgbClr val="1D6FA4"/>
          </a:solidFill>
          <a:ln w="63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5760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오피스밀집도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576072"/>
            <a:ext cx="2148840" cy="164592"/>
          </a:xfrm>
          <a:prstGeom prst="rect">
            <a:avLst/>
          </a:prstGeom>
          <a:solidFill>
            <a:srgbClr val="0D2545"/>
          </a:solidFill>
          <a:ln w="63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2316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1460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교통공백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576072"/>
            <a:ext cx="2148840" cy="164592"/>
          </a:xfrm>
          <a:prstGeom prst="rect">
            <a:avLst/>
          </a:prstGeom>
          <a:solidFill>
            <a:srgbClr val="DADAD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야간수요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20840" y="576072"/>
            <a:ext cx="2148840" cy="164592"/>
          </a:xfrm>
          <a:prstGeom prst="rect">
            <a:avLst/>
          </a:prstGeom>
          <a:solidFill>
            <a:srgbClr val="DADAD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2084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1228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우선순위 도출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786384"/>
            <a:ext cx="3474720" cy="1664208"/>
          </a:xfrm>
          <a:prstGeom prst="rect">
            <a:avLst/>
          </a:prstGeom>
          <a:solidFill>
            <a:srgbClr val="F5F8FF"/>
          </a:solidFill>
          <a:ln w="12700">
            <a:solidFill>
              <a:srgbClr val="B8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841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방법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10789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5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지수가 높을수록 = 올빼미버스가 닿지 않아 심야 이동 수단이 없는 지역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12801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올빼미버스 18개 노선 / 1,494개 정류장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155448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정류장 500m 버퍼 → 행정동 커버리지 계산 (국토부 보행 허용 거리 기준)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18288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대중교통공백_지수 = 1 - 커버리지 비율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1031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지하철 22~02시 승하차 → 공백 시간대 재확인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478024"/>
            <a:ext cx="3474720" cy="713232"/>
          </a:xfrm>
          <a:prstGeom prst="rect">
            <a:avLst/>
          </a:prstGeom>
          <a:solidFill>
            <a:srgbClr val="F5F8FF"/>
          </a:solidFill>
          <a:ln w="635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245059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249개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57200" y="2852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올빼미버스 커버 행정동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55264"/>
            <a:ext cx="3474720" cy="713232"/>
          </a:xfrm>
          <a:prstGeom prst="rect">
            <a:avLst/>
          </a:prstGeom>
          <a:solidFill>
            <a:srgbClr val="F5F8FF"/>
          </a:solidFill>
          <a:ln w="635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255264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177개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720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미커버 행정동 (교통공백)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059936"/>
            <a:ext cx="3474720" cy="713232"/>
          </a:xfrm>
          <a:prstGeom prst="rect">
            <a:avLst/>
          </a:prstGeom>
          <a:solidFill>
            <a:srgbClr val="F5F8FF"/>
          </a:solidFill>
          <a:ln w="635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05993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57200" y="4462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막차 후 지하철 잔존율</a:t>
            </a:r>
            <a:endParaRPr lang="en-US" sz="1000" dirty="0"/>
          </a:p>
        </p:txBody>
      </p:sp>
      <p:pic>
        <p:nvPicPr>
          <p:cNvPr id="35" name="Image 0" descr="/sessions/eager-amazing-thompson/mnt/seoul data/analysis/output/02_transport_gap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45920"/>
            <a:ext cx="49834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 심야 수요 분석 (야간수요 지수)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3. 분석 방법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76072"/>
            <a:ext cx="2148840" cy="164592"/>
          </a:xfrm>
          <a:prstGeom prst="rect">
            <a:avLst/>
          </a:prstGeom>
          <a:solidFill>
            <a:srgbClr val="1D6FA4"/>
          </a:solidFill>
          <a:ln w="63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5760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오피스밀집도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576072"/>
            <a:ext cx="2148840" cy="164592"/>
          </a:xfrm>
          <a:prstGeom prst="rect">
            <a:avLst/>
          </a:prstGeom>
          <a:solidFill>
            <a:srgbClr val="1D6FA4"/>
          </a:solidFill>
          <a:ln w="63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2316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1460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교통공백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576072"/>
            <a:ext cx="2148840" cy="164592"/>
          </a:xfrm>
          <a:prstGeom prst="rect">
            <a:avLst/>
          </a:prstGeom>
          <a:solidFill>
            <a:srgbClr val="0D2545"/>
          </a:solidFill>
          <a:ln w="63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야간수요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20840" y="576072"/>
            <a:ext cx="2148840" cy="164592"/>
          </a:xfrm>
          <a:prstGeom prst="rect">
            <a:avLst/>
          </a:prstGeom>
          <a:solidFill>
            <a:srgbClr val="DADAD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2084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1228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우선순위 도출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786384"/>
            <a:ext cx="8595360" cy="384048"/>
          </a:xfrm>
          <a:prstGeom prst="rect">
            <a:avLst/>
          </a:prstGeom>
          <a:solidFill>
            <a:srgbClr val="FFF9E3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78638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B009 KT 심야 유동인구 기반 분석 (빅데이터캠퍼스 방문 실행)  |  </a:t>
            </a:r>
            <a:r>
              <a:rPr lang="en-US" sz="900" b="1" dirty="0">
                <a:solidFill>
                  <a:srgbClr val="7A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지수 높을수록 = 심야에 실제로 많은 사람이 이동하는 행정동</a:t>
            </a:r>
            <a:endParaRPr lang="en-US" sz="900" dirty="0"/>
          </a:p>
        </p:txBody>
      </p:sp>
      <p:pic>
        <p:nvPicPr>
          <p:cNvPr id="21" name="Image 0" descr="/sessions/eager-amazing-thompson/mnt/seoul data/analysis/output/03_hourly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43584"/>
            <a:ext cx="4114800" cy="1874520"/>
          </a:xfrm>
          <a:prstGeom prst="rect">
            <a:avLst/>
          </a:prstGeom>
        </p:spPr>
      </p:pic>
      <p:pic>
        <p:nvPicPr>
          <p:cNvPr id="22" name="Image 1" descr="/sessions/eager-amazing-thompson/mnt/seoul data/analysis/output/03_demand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572" y="1499616"/>
            <a:ext cx="4297680" cy="331012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274320" y="3922776"/>
            <a:ext cx="4114800" cy="886968"/>
          </a:xfrm>
          <a:prstGeom prst="rect">
            <a:avLst/>
          </a:prstGeom>
          <a:solidFill>
            <a:srgbClr val="F5F8FF"/>
          </a:solidFill>
          <a:ln w="12700">
            <a:solidFill>
              <a:srgbClr val="B8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411480" y="3968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행정동별 심야 유동인구 합산 → Min-Max 정규화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11480" y="42428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야간수요 지수(0~1) 산출 완료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11480" y="4517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424개 행정동 / 행정동코드 8자리 정규화 완료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4단계: 우선순위 도출 (복합지수)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3. 분석 방법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76072"/>
            <a:ext cx="2148840" cy="164592"/>
          </a:xfrm>
          <a:prstGeom prst="rect">
            <a:avLst/>
          </a:prstGeom>
          <a:solidFill>
            <a:srgbClr val="1D6FA4"/>
          </a:solidFill>
          <a:ln w="63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5760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오피스밀집도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576072"/>
            <a:ext cx="2148840" cy="164592"/>
          </a:xfrm>
          <a:prstGeom prst="rect">
            <a:avLst/>
          </a:prstGeom>
          <a:solidFill>
            <a:srgbClr val="1D6FA4"/>
          </a:solidFill>
          <a:ln w="63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2316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1460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교통공백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576072"/>
            <a:ext cx="2148840" cy="164592"/>
          </a:xfrm>
          <a:prstGeom prst="rect">
            <a:avLst/>
          </a:prstGeom>
          <a:solidFill>
            <a:srgbClr val="1D6FA4"/>
          </a:solidFill>
          <a:ln w="63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야간수요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20840" y="576072"/>
            <a:ext cx="2148840" cy="164592"/>
          </a:xfrm>
          <a:prstGeom prst="rect">
            <a:avLst/>
          </a:prstGeom>
          <a:solidFill>
            <a:srgbClr val="0D2545"/>
          </a:solidFill>
          <a:ln w="63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20840" y="576072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12280" y="576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우선순위 도출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786384"/>
            <a:ext cx="4206240" cy="1234440"/>
          </a:xfrm>
          <a:prstGeom prst="rect">
            <a:avLst/>
          </a:prstGeom>
          <a:solidFill>
            <a:srgbClr val="EBF2FB"/>
          </a:solidFill>
          <a:ln w="190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822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복합지수 산출 공식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1078992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지수  =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오피스밀집도 × 0.35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대중교통공백 × 0.35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야간수요 × 0.30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112264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1579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근거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4323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오피스밀집도 35%: 야근 귀가 수요 존재 확인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2724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대중교통공백 35%: 공급 대체 수단 부재 지역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수요 존재 + 공급 부재 = 자율주행 최우선 조건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3310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야간수요 30%: KT 유동인구 실제 수요 확인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694176"/>
            <a:ext cx="4206240" cy="237744"/>
          </a:xfrm>
          <a:prstGeom prst="rect">
            <a:avLst/>
          </a:prstGeom>
          <a:solidFill>
            <a:srgbClr val="E8F0FC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74320" y="36941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복합지수(0~1): 높을수록 자율주행 도입 시 수익성·형평성 효과가 큰 지역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4206240" cy="420624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74320" y="397764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426개 행정동 전체 우선순위 산출 + 구역 유형 분류</a:t>
            </a:r>
            <a:endParaRPr lang="en-US" sz="1100" dirty="0"/>
          </a:p>
        </p:txBody>
      </p:sp>
      <p:pic>
        <p:nvPicPr>
          <p:cNvPr id="32" name="Image 0" descr="/sessions/eager-amazing-thompson/mnt/seoul data/analysis/output/04_priority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54480"/>
            <a:ext cx="42062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결과: 복합지수 우선순위 TOP 10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4. 분석 결과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8595360" cy="155448"/>
          </a:xfrm>
          <a:prstGeom prst="rect">
            <a:avLst/>
          </a:prstGeom>
          <a:solidFill>
            <a:srgbClr val="F0F4FA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복합지수(0~1): 값이 클수록 자율주행 도입 효과가 큰 지역  |  오피스밀집도·교통공백·야간수요 각 지수도 0에 가까울수록 낮고 1에 가까울수록 높음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41248"/>
            <a:ext cx="8595360" cy="33832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512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841248"/>
            <a:ext cx="127924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65630" y="841248"/>
            <a:ext cx="13304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오피스밀집도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96082" y="841248"/>
            <a:ext cx="117683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914" y="841248"/>
            <a:ext cx="117683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야간수요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49747" y="841248"/>
            <a:ext cx="117683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복합지수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26580" y="841248"/>
            <a:ext cx="194401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구역유형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179576"/>
            <a:ext cx="8595360" cy="338328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01752" y="1179576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816" y="1179576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여의동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93062" y="1179576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3514" y="1179576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0.744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00346" y="1179576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77179" y="1179576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0.655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54012" y="1179576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밀집형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517904"/>
            <a:ext cx="8595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01752" y="1517904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" y="1517904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가산동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93062" y="1517904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0.781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3514" y="1517904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0.691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00346" y="1517904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0.180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77179" y="1517904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0.569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54012" y="1517904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밀집형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1856232"/>
            <a:ext cx="8595360" cy="338328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01752" y="1856232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" y="1856232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역삼1동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93062" y="1856232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23514" y="1856232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0.231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00346" y="1856232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77179" y="1856232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0.565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54012" y="1856232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밀집형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2194560"/>
            <a:ext cx="8595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01752" y="2194560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" y="2194560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논현2동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093062" y="2194560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0.266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23514" y="2194560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00346" y="2194560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0.391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77179" y="2194560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0.560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54012" y="2194560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밀집형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2532888"/>
            <a:ext cx="8595360" cy="338328"/>
          </a:xfrm>
          <a:prstGeom prst="rect">
            <a:avLst/>
          </a:prstGeom>
          <a:solidFill>
            <a:srgbClr val="EF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301752" y="2532888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3816" y="2532888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수유2동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093062" y="2532888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423514" y="2532888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600346" y="2532888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0.446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77179" y="2532888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54012" y="2532888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" y="2871216"/>
            <a:ext cx="8595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301752" y="2871216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13816" y="2871216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성현동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093062" y="2871216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0.003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423514" y="2871216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0.989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00346" y="2871216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0.455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777179" y="2871216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954012" y="2871216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3209544"/>
            <a:ext cx="8595360" cy="338328"/>
          </a:xfrm>
          <a:prstGeom prst="rect">
            <a:avLst/>
          </a:prstGeom>
          <a:solidFill>
            <a:srgbClr val="EF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301752" y="3209544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13816" y="3209544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삼각산동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093062" y="3209544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423514" y="3209544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1.000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00346" y="3209544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0.430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777179" y="3209544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0.480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954012" y="3209544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3547872"/>
            <a:ext cx="8595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301752" y="3547872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13816" y="3547872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삼전동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093062" y="3547872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0.019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423514" y="3547872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0.993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600346" y="3547872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0.403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777179" y="3547872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0.475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954012" y="3547872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74320" y="3886200"/>
            <a:ext cx="8595360" cy="338328"/>
          </a:xfrm>
          <a:prstGeom prst="rect">
            <a:avLst/>
          </a:prstGeom>
          <a:solidFill>
            <a:srgbClr val="EFF4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301752" y="3886200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13816" y="3886200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개봉3동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2093062" y="3886200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0.040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3423514" y="3886200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0.936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4600346" y="3886200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0.415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777179" y="3886200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0.466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954012" y="3886200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74320" y="4224528"/>
            <a:ext cx="8595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301752" y="4224528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13816" y="4224528"/>
            <a:ext cx="122438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금호2·3가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2093062" y="4224528"/>
            <a:ext cx="12755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0.002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3423514" y="4224528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0.989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4600346" y="4224528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0.394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5777179" y="4224528"/>
            <a:ext cx="1121969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0.465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6954012" y="4224528"/>
            <a:ext cx="188915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274320" y="4636008"/>
            <a:ext cx="164592" cy="164592"/>
          </a:xfrm>
          <a:prstGeom prst="rect">
            <a:avLst/>
          </a:prstGeom>
          <a:solidFill>
            <a:srgbClr val="FFE0E0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475488" y="46177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밀집형 (23개 동) — 수익성 중심, 1차 확대 대상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572000" y="4636008"/>
            <a:ext cx="164592" cy="164592"/>
          </a:xfrm>
          <a:prstGeom prst="rect">
            <a:avLst/>
          </a:prstGeom>
          <a:solidFill>
            <a:srgbClr val="E0EAFF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4773168" y="4617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 (102개 동) — 형평성 관점, 단계적 확대 대상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 유형 분리: 오피스 밀집형 vs 교통공백형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4. 분석 결과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14</a:t>
            </a:r>
            <a:endParaRPr lang="en-US" sz="850" dirty="0"/>
          </a:p>
        </p:txBody>
      </p:sp>
      <p:pic>
        <p:nvPicPr>
          <p:cNvPr id="8" name="Image 0" descr="/sessions/eager-amazing-thompson/mnt/seoul data/analysis/output/04_zone_clas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4572000" cy="22768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0" y="731520"/>
            <a:ext cx="3840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029200" y="731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1유형: 오피스 밀집형 (23개 동)  — 1차 확대 대상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0" y="1078992"/>
            <a:ext cx="3840480" cy="1883664"/>
          </a:xfrm>
          <a:prstGeom prst="rect">
            <a:avLst/>
          </a:prstGeom>
          <a:solidFill>
            <a:srgbClr val="FFF5F5"/>
          </a:solidFill>
          <a:ln w="1270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166360" y="1133856"/>
            <a:ext cx="35661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오피스_밀집도_지수 ≥ 0.2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166360" y="1335024"/>
            <a:ext cx="35661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(0.1~0.2 구간 7개 동 → 복합형으로 별도 관리)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166360" y="1737360"/>
            <a:ext cx="35661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지역: 여의동(금융)  /  가산동(IT)  /  역삼1동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66360" y="1938528"/>
            <a:ext cx="35661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구로3동(IT)   /  명동(업무)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166360" y="2340864"/>
            <a:ext cx="35661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잠재수요 (TOP 3):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166360" y="2542032"/>
            <a:ext cx="35661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여의동 10,235건/일  /  가산동 7,997건/일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166360" y="2743200"/>
            <a:ext cx="35661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역삼1동 7,916건/일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0" y="2971800"/>
            <a:ext cx="384048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0" y="2970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2유형: 교통공백형 (102개 동)  — 형평성 확대 대상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0" y="3307556"/>
            <a:ext cx="3840480" cy="1554480"/>
          </a:xfrm>
          <a:prstGeom prst="rect">
            <a:avLst/>
          </a:prstGeom>
          <a:solidFill>
            <a:srgbClr val="F5F8FF"/>
          </a:solidFill>
          <a:ln w="12700">
            <a:solidFill>
              <a:srgbClr val="B8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166360" y="33101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오피스_밀집도_지수 &lt; 0.1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166360" y="3520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AND 대중교통공백_지수 ≥ 0.7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166360" y="39410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지역: 수유2동  /  삼각산동  /  개봉3동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166360" y="4151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신길3동  /  중계1동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166360" y="45720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특성: 수익보다 사회적 형평성·이동권 보장 관점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밀집형 잠재수요 정량 추정 (복합지수 검증)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4. 분석 결과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8595360" cy="566928"/>
          </a:xfrm>
          <a:prstGeom prst="rect">
            <a:avLst/>
          </a:prstGeom>
          <a:solidFill>
            <a:srgbClr val="EBF2FB"/>
          </a:solidFill>
          <a:ln w="190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71323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잠재수요(건/일) = 오피스 종사자 수 × 야근율(25%) × 택시의존율(30%)  ※ 이론적 수요 상한치 추정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493776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1389888"/>
            <a:ext cx="7397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070" y="1389888"/>
            <a:ext cx="15371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51176" y="1389888"/>
            <a:ext cx="21058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종사자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57039" y="1389888"/>
            <a:ext cx="21058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잠재수요(건/일)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2902" y="1389888"/>
            <a:ext cx="21058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 대비 배율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883664"/>
            <a:ext cx="8595360" cy="493776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1883664"/>
            <a:ext cx="64831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9790" y="1883664"/>
            <a:ext cx="144566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여의동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96896" y="1883664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136,466명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2759" y="1883664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10,235건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8622" y="1883664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16.0배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20040" y="2377440"/>
            <a:ext cx="64831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9790" y="2377440"/>
            <a:ext cx="144566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가산동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96896" y="2377440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106,631명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2759" y="2377440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7,997건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08622" y="2377440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12.5배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871216"/>
            <a:ext cx="8595360" cy="493776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20040" y="2871216"/>
            <a:ext cx="64831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9790" y="2871216"/>
            <a:ext cx="144566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역삼1동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96896" y="2871216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105,551명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2759" y="2871216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7,916건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08622" y="2871216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12.4배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364992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20040" y="3364992"/>
            <a:ext cx="64831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9790" y="3364992"/>
            <a:ext cx="144566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논현2동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96896" y="3364992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36,372명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2759" y="3364992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2,728건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08622" y="3364992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4.3배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3858768"/>
            <a:ext cx="8595360" cy="493776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20040" y="3858768"/>
            <a:ext cx="64831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9790" y="3858768"/>
            <a:ext cx="144566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구로3동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596896" y="3858768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42,219명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02759" y="3858768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3,167건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08622" y="3858768"/>
            <a:ext cx="2014423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5.0배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42793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강남 권역 심야 추정 수요 기준: 638건/일  (야근율·택시의존율 동일 공식 적용)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526280"/>
            <a:ext cx="8595360" cy="438912"/>
          </a:xfrm>
          <a:prstGeom prst="rect">
            <a:avLst/>
          </a:prstGeom>
          <a:solidFill>
            <a:srgbClr val="FFF0F0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274320" y="452628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여의도 추정 수요 10,235건/일 — 강남 권역(638건) 대비 약 16배 규모, 1차 확대 최우선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막차 전후 수요 변화 (지하철 시간대별 분석)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4. 분석 결과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2103120" cy="1444752"/>
          </a:xfrm>
          <a:prstGeom prst="rect">
            <a:avLst/>
          </a:prstGeom>
          <a:solidFill>
            <a:srgbClr val="FFF5F5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84124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4320" y="1499616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막차 이후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이용 소멸률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2103120" cy="1444752"/>
          </a:xfrm>
          <a:prstGeom prst="rect">
            <a:avLst/>
          </a:prstGeom>
          <a:solidFill>
            <a:srgbClr val="F5F8FF"/>
          </a:solidFill>
          <a:ln w="1905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248716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6F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74320" y="3145536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00~02시 잔존율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(600개 역 평균)</a:t>
            </a:r>
            <a:endParaRPr lang="en-US" sz="1050" dirty="0"/>
          </a:p>
        </p:txBody>
      </p:sp>
      <p:pic>
        <p:nvPicPr>
          <p:cNvPr id="14" name="Image 0" descr="/sessions/eager-amazing-thompson/mnt/seoul data/analysis/output/02_subway_hour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252728"/>
            <a:ext cx="6355080" cy="20848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22시 이후 지하철 이용 급감, 막차(23~24시) 이후 대중교통 완전 종료 → 올빼미버스 미커버 177개 동은 이동 수단 전무 상태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기대 효과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5. 기대 효과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1605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749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  안전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25272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운전자 야간 위험 노출 감소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개인택시 평균 64.6세, 78%가 60세 이상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자율주행으로 야간 사고 위험 구조적 해소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160520" cy="4572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749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 이동권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25272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밀집형: 야근 귀가 자율주행 확보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교통공백형: 주거 소외지역 이동권 보장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전역 야간 이동 형평성 향상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61488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2761488"/>
            <a:ext cx="4160520" cy="457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11480" y="27614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정책 근거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6440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우선순위 제시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 이후 확대 기준 과학적 도출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복합지수로 객관적 의사결정 가능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761488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09160" y="2761488"/>
            <a:ext cx="416052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27614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🏙  스마트시티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26440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데이터 활용 정책 고도화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피드백 → 수요 예측 정밀화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자율주행 생태계 선도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쟁점: 택시기사 반발과 본 분석의 입장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5. 기대 효과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932688"/>
            <a:ext cx="416052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9326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 택시업계의 반발 현황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25880"/>
            <a:ext cx="4160520" cy="914400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380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장벽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택시산업 보호를 위한 규제로 자율주행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가로막아 (세계일보, 2025.09)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160520" cy="914400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1480" y="23865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일자리 우려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6334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개인택시 비중 70% — 준비 없이 도입 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택시종사자 피해 불가피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160520" cy="914400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11480" y="33924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현황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전통택시 비중 94% (뉴욕 12%)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전환 속도 크게 뒤처짐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43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709160" y="932688"/>
            <a:ext cx="416052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09160" y="9326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본 분석이 이 문제를 피하는 이유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325880"/>
            <a:ext cx="4160520" cy="914400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1380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시간대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대상: 밤 10시 ~ 새벽 5시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택시기사들이 이미 자발적으로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'운행을 선택하지 않는 시간대'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160520" cy="914400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23865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공백 데이터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6334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 2시 개인택시 가동률 14%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(7,000대/49,000대)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심야 피크 대비 5,551대 부족 (서울시)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337560"/>
            <a:ext cx="4160520" cy="914400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46320" y="33924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근거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한국은행(2025): 자율주행 7,000대 투입 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하루 37,800건 추가 승차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연간 1,600억 원 소비자 이익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11480" y="43434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분석은 택시기사의 '운행 공백 시간대'를 대상으로 하므로 기존 생계와 직접 </a:t>
            </a:r>
            <a:r>
              <a:rPr lang="en-US" sz="9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충돌하지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</a:t>
            </a:r>
            <a:r>
              <a:rPr lang="ko-KR" alt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950" dirty="0">
                <a:solidFill>
                  <a:srgbClr val="BAE6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서울시도 이미 강남 심야 자율주행 택시를 밤 10시~새벽 5시에 운행 중(2026년 7대).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828032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세계일보(2025.09), 한국은행 BOK이슈노트 2025-24호, 서울시 심야 1~2시 개인택시 운행 통계(서울앤드)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개선방안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6. 한계점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19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8595360" cy="402336"/>
          </a:xfrm>
          <a:prstGeom prst="rect">
            <a:avLst/>
          </a:prstGeom>
          <a:solidFill>
            <a:srgbClr val="FFF9E3"/>
          </a:solidFill>
          <a:ln w="190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54864" cy="40233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8912" y="71323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연도 한계: </a:t>
            </a:r>
            <a:r>
              <a:rPr lang="en-US" sz="950" dirty="0">
                <a:solidFill>
                  <a:srgbClr val="7A6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유동인구(B009)는 2016~2018년 데이터로 최신 야간 이동 패턴과 차이 있음. 사업체조사는 2024년 기준이나 2025~2026년 재택근무·오피스 재배치는 미반영.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40690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12070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한계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609344"/>
            <a:ext cx="4069080" cy="713232"/>
          </a:xfrm>
          <a:prstGeom prst="rect">
            <a:avLst/>
          </a:prstGeom>
          <a:solidFill>
            <a:srgbClr val="FFF5F5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160934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B035 택시 링크 데이터 행정동 매핑 실패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B009(유동인구)로 대체 (간접 지표)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4069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1480" y="239572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야근 실태 직접 데이터 미확보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종사자 수로 간접 추정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4069080" cy="713232"/>
          </a:xfrm>
          <a:prstGeom prst="rect">
            <a:avLst/>
          </a:prstGeom>
          <a:solidFill>
            <a:srgbClr val="FFF5F5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유동인구(B009): 2016~2018 수집 데이터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최신 심야 수요 패턴 미반영 가능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4069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11480" y="396849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교통공백형: 교통 부재로 이동 자체 억압(억압된 수요)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KT 유동인구 과소 측정 구조적 한계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207008"/>
            <a:ext cx="406908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00600" y="12070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개선방안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609344"/>
            <a:ext cx="4069080" cy="713232"/>
          </a:xfrm>
          <a:prstGeom prst="rect">
            <a:avLst/>
          </a:prstGeom>
          <a:solidFill>
            <a:srgbClr val="F5F8FF"/>
          </a:solidFill>
          <a:ln w="635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160934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B035 링크-행정동 코드 재매핑 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 실수요 직접 분석 가능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395728"/>
            <a:ext cx="4069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239572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실제 운행 데이터 피드백 루프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분석 정밀도 지속 향상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182112"/>
            <a:ext cx="4069080" cy="713232"/>
          </a:xfrm>
          <a:prstGeom prst="rect">
            <a:avLst/>
          </a:prstGeom>
          <a:solidFill>
            <a:srgbClr val="F5F8FF"/>
          </a:solidFill>
          <a:ln w="635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318211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요일별(평일·휴일)·계절별 세분화 분석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수요 패턴 고도화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968496"/>
            <a:ext cx="4069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37760" y="396849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유동인구 데이터로 억압 수요 재측정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교통공백형 실제 잠재 규모 재산출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719072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3493008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57187" y="22488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부록: 사용 데이터 및 분석 도구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48640"/>
            <a:ext cx="8631936" cy="0"/>
          </a:xfrm>
          <a:prstGeom prst="line">
            <a:avLst/>
          </a:prstGeom>
          <a:noFill/>
          <a:ln w="1905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0" y="73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496519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택시 도입 우선 확대 구역 및 시간대 도출  |  2026 서울시 빅데이터 활용 경진대회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965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21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4663440" cy="4069080"/>
          </a:xfrm>
          <a:prstGeom prst="rect">
            <a:avLst/>
          </a:prstGeom>
          <a:solidFill>
            <a:srgbClr val="F5F8FF"/>
          </a:solidFill>
          <a:ln w="1270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7589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데이터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5156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[빅데이터캠퍼스]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93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B009 KT 심야 유동인구 (행정동별 심야 유동인구)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63677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[서울 열린데이터광장]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8745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지하철 역별 시간대별 승하차 인원 정보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1305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버스 노선 정보 조회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38658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버스정류소 위치정보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73405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[통계청]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2024년 기준 전국사업체조사 자료 (1,176,066행)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3192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[SGIS 통계지리정보서비스]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5701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행정구역경계(읍면동) bnd_dong_11_2025_2Q.shp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9044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[공공데이터포털 / TAAS / TMACS] 배경 지표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422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도로교통공단 교통사고 상세 (TAAS)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3982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운수종사자 연령 현황 (TMACS)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713232"/>
            <a:ext cx="3749040" cy="1993392"/>
          </a:xfrm>
          <a:prstGeom prst="rect">
            <a:avLst/>
          </a:prstGeom>
          <a:solidFill>
            <a:srgbClr val="F5F8FF"/>
          </a:solidFill>
          <a:ln w="12700">
            <a:solidFill>
              <a:srgbClr val="C0D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57800" y="768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도구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0607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(pandas, geopandas, shapely,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scikit-learn, matplotlib)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1938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2311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빅데이터캠퍼스 분석 환경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2834640"/>
            <a:ext cx="3749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257800" y="2880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참고문헌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31729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서울특별시 (2024). 자율주행차 운행 현황 보도자료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57800" y="34472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통계청 (2024). 전국사업체조사 결과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57800" y="3721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서울시 빅데이터캠퍼스 (B009 데이터 제공)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57800" y="39959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도로교통공단 TAAS 교통사고 통계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57800" y="42702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SGIS 통계지리정보서비스 행정구역경계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2609</Words>
  <Application>Microsoft Office PowerPoint</Application>
  <PresentationFormat>화면 슬라이드 쇼(16:9)</PresentationFormat>
  <Paragraphs>564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자율주행 택시 도입 우선 확대 구역 및 시간대 도출</dc:title>
  <dc:subject>PptxGenJS Presentation</dc:subject>
  <dc:creator>Seoul Bigdata 2026</dc:creator>
  <cp:lastModifiedBy>지우 홍</cp:lastModifiedBy>
  <cp:revision>3</cp:revision>
  <dcterms:created xsi:type="dcterms:W3CDTF">2026-05-12T11:59:02Z</dcterms:created>
  <dcterms:modified xsi:type="dcterms:W3CDTF">2026-05-12T13:13:18Z</dcterms:modified>
</cp:coreProperties>
</file>